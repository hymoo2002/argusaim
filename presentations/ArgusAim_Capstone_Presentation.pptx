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1633"/>
                </a:solidFill>
                <a:latin typeface="Montserrat"/>
              </a:defRPr>
            </a:pPr>
            <a:r>
              <a:rPr sz="1300" b="0" i="0" u="none" strike="noStrike">
                <a:solidFill>
                  <a:srgbClr val="001633"/>
                </a:solidFill>
                <a:latin typeface="Montserrat"/>
              </a:rPr>
              <a:t>Tracking speed (fps)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Frames per second (higher is smoother)</c:v>
                </c:pt>
              </c:strCache>
            </c:strRef>
          </c:tx>
          <c:spPr>
            <a:solidFill>
              <a:srgbClr val="0E7C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16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Laptop</c:v>
                  </c:pt>
                  <c:pt idx="1">
                    <c:v>Low-cost board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29.9</c:v>
                </c:pt>
                <c:pt idx="1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16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9525" cap="flat">
              <a:solidFill>
                <a:srgbClr val="E7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83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4.png"/><Relationship Id="rId5" Type="http://schemas.openxmlformats.org/officeDocument/2006/relationships/image" Target="../media/image-14-4.png"/><Relationship Id="rId6" Type="http://schemas.openxmlformats.org/officeDocument/2006/relationships/image" Target="../media/image-1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0" cy="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457200"/>
            <a:ext cx="-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57200"/>
            <a:ext cx="0" cy="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86300"/>
            <a:ext cx="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686300"/>
            <a:ext cx="0" cy="-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686300"/>
            <a:ext cx="-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4686300"/>
            <a:ext cx="0" cy="-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3380" y="7086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93"/>
          </a:solidFill>
          <a:ln/>
        </p:spPr>
      </p:sp>
      <p:pic>
        <p:nvPicPr>
          <p:cNvPr id="11" name="Image 0" descr="C:\Users\Barho\AppData\Local\Temp\claude\C--Users-Barho-Desktop-General-Assembly-Projects-GitHub-ArgusAim\4dd502a5-664d-4fee-a519-13b7ad1f90ff\scratchpad\deck\icons\TbCross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918" y="895198"/>
            <a:ext cx="404165" cy="40416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137660" y="66294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37660" y="66294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06340" y="66294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06340" y="66294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7660" y="153162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37660" y="153162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06340" y="153162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06340" y="153162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0" y="1783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ArgusAim</a:t>
            </a:r>
            <a:endParaRPr lang="en-US" sz="5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2606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that finds you and keeps you in frame - on its own.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2999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person tracking on a self-aiming camera mount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0" y="43662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Ebrahim Maki  |  General Assembly - Data Science Capstone  |  September 2,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002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idea, in one 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671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answers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7340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- real-world uses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3009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09160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AB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916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16002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 - engineering &amp; safety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AB4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091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1671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27614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AB4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7340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09160" y="33284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AB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3009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idea, in one 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ArgusAim is a camera that watches for a person, works out exactly where they are, and physically turns to keep them centred - by itself, in real time.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48740" y="31775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93"/>
          </a:solidFill>
          <a:ln/>
        </p:spPr>
      </p:sp>
      <p:pic>
        <p:nvPicPr>
          <p:cNvPr id="6" name="Image 0" descr="C:\Users\Barho\AppData\Local\Temp\claude\C--Users-Barho-Desktop-General-Assembly-Projects-GitHub-ArgusAim\4dd502a5-664d-4fee-a519-13b7ad1f90ff\scratchpad\deck\icons\Tb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278" y="3364078"/>
            <a:ext cx="404165" cy="40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03020" y="313182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03020" y="313182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71700" y="313182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71700" y="313182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03020" y="400050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3020" y="400050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71700" y="400050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71700" y="400050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" y="4023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8006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video feed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012948" y="33832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393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183380" y="31775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AB40"/>
          </a:solidFill>
          <a:ln/>
        </p:spPr>
      </p:sp>
      <p:pic>
        <p:nvPicPr>
          <p:cNvPr id="19" name="Image 1" descr="C:\Users\Barho\AppData\Local\Temp\claude\C--Users-Barho-Desktop-General-Assembly-Projects-GitHub-ArgusAim\4dd502a5-664d-4fee-a519-13b7ad1f90ff\scratchpad\deck\icons\Tb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918" y="3364078"/>
            <a:ext cx="404165" cy="40416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137660" y="3131820"/>
            <a:ext cx="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37660" y="3131820"/>
            <a:ext cx="0" cy="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06340" y="3131820"/>
            <a:ext cx="-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06340" y="3131820"/>
            <a:ext cx="0" cy="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37660" y="4000500"/>
            <a:ext cx="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37660" y="4000500"/>
            <a:ext cx="0" cy="-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06340" y="4000500"/>
            <a:ext cx="-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06340" y="4000500"/>
            <a:ext cx="0" cy="-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314700" y="4023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MEASURES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331470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pixels into a real angle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5847588" y="33832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393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7018020" y="31775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93"/>
          </a:solidFill>
          <a:ln/>
        </p:spPr>
      </p:sp>
      <p:pic>
        <p:nvPicPr>
          <p:cNvPr id="32" name="Image 2" descr="C:\Users\Barho\AppData\Local\Temp\claude\C--Users-Barho-Desktop-General-Assembly-Projects-GitHub-ArgusAim\4dd502a5-664d-4fee-a519-13b7ad1f90ff\scratchpad\deck\icons\TbArrowsMo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58" y="3364078"/>
            <a:ext cx="404165" cy="404165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972300" y="313182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972300" y="313182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840980" y="313182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840980" y="313182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972300" y="400050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972300" y="400050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840980" y="400050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840980" y="400050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149340" y="4023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MOVES</a:t>
            </a:r>
            <a:endParaRPr lang="en-US" sz="1350" dirty="0"/>
          </a:p>
        </p:txBody>
      </p:sp>
      <p:sp>
        <p:nvSpPr>
          <p:cNvPr id="42" name="Text 37"/>
          <p:cNvSpPr txBox="1"/>
          <p:nvPr/>
        </p:nvSpPr>
        <p:spPr>
          <a:xfrm>
            <a:off x="614934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two motors to re-centre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Cameras watch everything.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don't pay attention to anyone.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864" cy="4572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camera only covers what's directly in front of it.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person steps to the side, they're gone from frame.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706624"/>
            <a:ext cx="54864" cy="4572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651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someone well needs a person at the controls.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panning and tilting a camera all day is tiring, and it doesn't scale.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483864"/>
            <a:ext cx="54864" cy="4572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off-the-shelf alternative is closed and expensive.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auto-tracking camera systems are sealed hardware, and pricing runs well into the thousands - out of reach for a classroom, a small studio, or a single security post.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4640580"/>
            <a:ext cx="8229600" cy="0"/>
          </a:xfrm>
          <a:prstGeom prst="line">
            <a:avLst/>
          </a:prstGeom>
          <a:noFill/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7045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cost figures are illustrative, based on publicly advertised pricing for commercial auto-tracking PTZ camera systems.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we built ArgusAim.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self-aiming camera platform that watches a scene, locks onto a person, and turns to follow them - running entirely on inexpensive, off-the-shelf hardware.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1908353" cy="438912"/>
          </a:xfrm>
          <a:prstGeom prst="roundRect">
            <a:avLst>
              <a:gd name="adj" fmla="val 50000"/>
            </a:avLst>
          </a:prstGeom>
          <a:solidFill>
            <a:srgbClr val="0A2A4D"/>
          </a:solidFill>
          <a:ln w="12700">
            <a:solidFill>
              <a:srgbClr val="85D5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063240"/>
            <a:ext cx="190835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On-device, no cloud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94153" y="3063240"/>
            <a:ext cx="1568196" cy="438912"/>
          </a:xfrm>
          <a:prstGeom prst="roundRect">
            <a:avLst>
              <a:gd name="adj" fmla="val 50000"/>
            </a:avLst>
          </a:prstGeom>
          <a:solidFill>
            <a:srgbClr val="0A2A4D"/>
          </a:solidFill>
          <a:ln w="12700">
            <a:solidFill>
              <a:srgbClr val="85D5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4153" y="3063240"/>
            <a:ext cx="15681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0949" y="3063240"/>
            <a:ext cx="2248510" cy="438912"/>
          </a:xfrm>
          <a:prstGeom prst="roundRect">
            <a:avLst>
              <a:gd name="adj" fmla="val 50000"/>
            </a:avLst>
          </a:prstGeom>
          <a:solidFill>
            <a:srgbClr val="0A2A4D"/>
          </a:solidFill>
          <a:ln w="12700">
            <a:solidFill>
              <a:srgbClr val="85D5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90949" y="3063240"/>
            <a:ext cx="2248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low-cost hardware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3246120"/>
            <a:ext cx="201168" cy="0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3246120"/>
            <a:ext cx="0" cy="201168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3246120"/>
            <a:ext cx="-201168" cy="0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3246120"/>
            <a:ext cx="0" cy="201168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4617720"/>
            <a:ext cx="201168" cy="0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4617720"/>
            <a:ext cx="0" cy="-201168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4617720"/>
            <a:ext cx="-201168" cy="0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4617720"/>
            <a:ext cx="0" cy="-201168"/>
          </a:xfrm>
          <a:prstGeom prst="line">
            <a:avLst/>
          </a:prstGeom>
          <a:noFill/>
          <a:ln w="25400">
            <a:solidFill>
              <a:srgbClr val="FFAB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4747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AB40"/>
          </a:solidFill>
          <a:ln/>
        </p:spPr>
      </p:sp>
      <p:pic>
        <p:nvPicPr>
          <p:cNvPr id="20" name="Image 0" descr="C:\Users\Barho\AppData\Local\Temp\claude\C--Users-Barho-Desktop-General-Assembly-Projects-GitHub-ArgusAim\4dd502a5-664d-4fee-a519-13b7ad1f90ff\scratchpad\deck\icons\Tb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76" y="3694176"/>
            <a:ext cx="475488" cy="47548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086600" y="3429000"/>
            <a:ext cx="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86600" y="3429000"/>
            <a:ext cx="0" cy="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3429000"/>
            <a:ext cx="-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92440" y="3429000"/>
            <a:ext cx="0" cy="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86600" y="4434840"/>
            <a:ext cx="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86600" y="4434840"/>
            <a:ext cx="0" cy="-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2440" y="4434840"/>
            <a:ext cx="-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92440" y="4434840"/>
            <a:ext cx="0" cy="-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tracking engine, many places to point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AB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068" y="16870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E7C93"/>
          </a:solidFill>
          <a:ln/>
        </p:spPr>
      </p:sp>
      <p:pic>
        <p:nvPicPr>
          <p:cNvPr id="6" name="Image 0" descr="C:\Users\Barho\AppData\Local\Temp\claude\C--Users-Barho-Desktop-General-Assembly-Projects-GitHub-ArgusAim\4dd502a5-664d-4fee-a519-13b7ad1f90ff\scratchpad\deck\icons\TbShield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69" y="1807769"/>
            <a:ext cx="261518" cy="2615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" y="164134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8348" y="164134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2708" y="164134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2708" y="164134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" y="223570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" y="223570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2708" y="223570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2708" y="223570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43000" y="16824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&amp; facilities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" y="22402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person in frame across a store aisle, a lobby, or a work floor - unmanned.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AB6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78708" y="16870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E7C93"/>
          </a:solidFill>
          <a:ln/>
        </p:spPr>
      </p:sp>
      <p:pic>
        <p:nvPicPr>
          <p:cNvPr id="19" name="Image 1" descr="C:\Users\Barho\AppData\Local\Temp\claude\C--Users-Barho-Desktop-General-Assembly-Projects-GitHub-ArgusAim\4dd502a5-664d-4fee-a519-13b7ad1f90ff\scratchpad\deck\icons\TbDevice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409" y="1807769"/>
            <a:ext cx="261518" cy="26151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332988" y="164134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332988" y="164134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27348" y="164134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927348" y="164134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32988" y="223570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332988" y="223570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927348" y="223570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927348" y="223570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977640" y="16824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content &amp; creators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3410712" y="22402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operator that never gets tired, for streamers, coaches, and solo presenters.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8076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AB6">
                <a:alpha val="2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213348" y="16870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E7C93"/>
          </a:solidFill>
          <a:ln/>
        </p:spPr>
      </p:sp>
      <p:pic>
        <p:nvPicPr>
          <p:cNvPr id="32" name="Image 2" descr="C:\Users\Barho\AppData\Local\Temp\claude\C--Users-Barho-Desktop-General-Assembly-Projects-GitHub-ArgusAim\4dd502a5-664d-4fee-a519-13b7ad1f90ff\scratchpad\deck\icons\TbConfett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049" y="1807769"/>
            <a:ext cx="261518" cy="26151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167628" y="164134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167628" y="164134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761988" y="164134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761988" y="164134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167628" y="223570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167628" y="223570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761988" y="223570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761988" y="223570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812280" y="16824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play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6245352" y="22402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and attractions that react to where a player actually stands - arcades, kids' play areas.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11480" y="317296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AB6">
                <a:alpha val="25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44068" y="330555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5650A"/>
          </a:solidFill>
          <a:ln/>
        </p:spPr>
      </p:sp>
      <p:pic>
        <p:nvPicPr>
          <p:cNvPr id="45" name="Image 3" descr="C:\Users\Barho\AppData\Local\Temp\claude\C--Users-Barho-Desktop-General-Assembly-Projects-GitHub-ArgusAim\4dd502a5-664d-4fee-a519-13b7ad1f90ff\scratchpad\deck\icons\TbShield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9" y="3426257"/>
            <a:ext cx="261518" cy="261518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498348" y="325983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98348" y="32598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092708" y="325983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092708" y="32598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98348" y="385419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98348" y="3854196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092708" y="385419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092708" y="3854196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1143000" y="3300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Defense &amp; perimeter watch</a:t>
            </a:r>
            <a:endParaRPr lang="en-US" sz="1300" dirty="0"/>
          </a:p>
        </p:txBody>
      </p:sp>
      <p:sp>
        <p:nvSpPr>
          <p:cNvPr id="55" name="Text 49"/>
          <p:cNvSpPr txBox="1"/>
          <p:nvPr/>
        </p:nvSpPr>
        <p:spPr>
          <a:xfrm>
            <a:off x="576072" y="385876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Situational-awareness cameras that hold watch on a boundary without a hand on the joystick.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3246120" y="317296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AB6">
                <a:alpha val="25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3378708" y="330555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5650A"/>
          </a:solidFill>
          <a:ln/>
        </p:spPr>
      </p:sp>
      <p:pic>
        <p:nvPicPr>
          <p:cNvPr id="58" name="Image 4" descr="C:\Users\Barho\AppData\Local\Temp\claude\C--Users-Barho-Desktop-General-Assembly-Projects-GitHub-ArgusAim\4dd502a5-664d-4fee-a519-13b7ad1f90ff\scratchpad\deck\icons\TbPa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409" y="3426257"/>
            <a:ext cx="261518" cy="261518"/>
          </a:xfrm>
          <a:prstGeom prst="rect">
            <a:avLst/>
          </a:prstGeom>
        </p:spPr>
      </p:pic>
      <p:sp>
        <p:nvSpPr>
          <p:cNvPr id="59" name="Shape 52"/>
          <p:cNvSpPr/>
          <p:nvPr/>
        </p:nvSpPr>
        <p:spPr>
          <a:xfrm>
            <a:off x="3332988" y="325983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3332988" y="32598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3927348" y="325983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3927348" y="32598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3332988" y="385419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3332988" y="3854196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3927348" y="385419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3927348" y="3854196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3977640" y="3300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&amp; field research</a:t>
            </a:r>
            <a:endParaRPr lang="en-US" sz="1300" dirty="0"/>
          </a:p>
        </p:txBody>
      </p:sp>
      <p:sp>
        <p:nvSpPr>
          <p:cNvPr id="68" name="Text 61"/>
          <p:cNvSpPr txBox="1"/>
          <p:nvPr/>
        </p:nvSpPr>
        <p:spPr>
          <a:xfrm>
            <a:off x="3410712" y="385876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Auto-follow cameras for behaviour studies, without a researcher steering by hand.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6080760" y="317296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AB6">
                <a:alpha val="25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6213348" y="330555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5650A"/>
          </a:solidFill>
          <a:ln/>
        </p:spPr>
      </p:sp>
      <p:pic>
        <p:nvPicPr>
          <p:cNvPr id="71" name="Image 5" descr="C:\Users\Barho\AppData\Local\Temp\claude\C--Users-Barho-Desktop-General-Assembly-Projects-GitHub-ArgusAim\4dd502a5-664d-4fee-a519-13b7ad1f90ff\scratchpad\deck\icons\TbWheelchai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049" y="3426257"/>
            <a:ext cx="261518" cy="261518"/>
          </a:xfrm>
          <a:prstGeom prst="rect">
            <a:avLst/>
          </a:prstGeom>
        </p:spPr>
      </p:pic>
      <p:sp>
        <p:nvSpPr>
          <p:cNvPr id="72" name="Shape 64"/>
          <p:cNvSpPr/>
          <p:nvPr/>
        </p:nvSpPr>
        <p:spPr>
          <a:xfrm>
            <a:off x="6167628" y="325983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6167628" y="32598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6761988" y="325983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6761988" y="32598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6167628" y="385419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6167628" y="3854196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6761988" y="385419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6761988" y="3854196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6812280" y="3300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81" name="Text 73"/>
          <p:cNvSpPr txBox="1"/>
          <p:nvPr/>
        </p:nvSpPr>
        <p:spPr>
          <a:xfrm>
            <a:off x="6245352" y="385876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video calls and monitoring for people with limited mobility.</a:t>
            </a:r>
            <a:endParaRPr lang="en-US" sz="1000" dirty="0"/>
          </a:p>
        </p:txBody>
      </p:sp>
      <p:sp>
        <p:nvSpPr>
          <p:cNvPr id="82" name="Text 74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learns from - and what “working” means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ArgusAim doesn't train on a fixed folder of photos - it works from a live video feed. Underneath, it's built on a modern object-detection model that already knows what a person looks like, from millions of labelled real-world photos - the same public benchmark used across computer vision.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 was proving that model could run fast enough, and precisely enough, to drive a physical motor in real time - a different problem from training the model in the first place.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LOOKED LIKE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36592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93"/>
          </a:solidFill>
          <a:ln/>
        </p:spPr>
      </p:sp>
      <p:pic>
        <p:nvPicPr>
          <p:cNvPr id="8" name="Image 0" descr="C:\Users\Barho\AppData\Local\Temp\claude\C--Users-Barho-Desktop-General-Assembly-Projects-GitHub-ArgusAim\4dd502a5-664d-4fee-a519-13b7ad1f90ff\scratchpad\deck\icons\Tb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121408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90872" y="196596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196596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39512" y="196596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39512" y="196596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90872" y="251460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90872" y="251460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39512" y="251460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9512" y="251460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76088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enough to feel alive, not jerky - targeting 15+ frames a second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736592" y="28529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93"/>
          </a:solidFill>
          <a:ln/>
        </p:spPr>
      </p:sp>
      <p:pic>
        <p:nvPicPr>
          <p:cNvPr id="19" name="Image 1" descr="C:\Users\Barho\AppData\Local\Temp\claude\C--Users-Barho-Desktop-General-Assembly-Projects-GitHub-ArgusAim\4dd502a5-664d-4fee-a519-13b7ad1f90ff\scratchpad\deck\icons\Tb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62656"/>
            <a:ext cx="237744" cy="2377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690872" y="280720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90872" y="280720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39512" y="280720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39512" y="280720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90872" y="335584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690872" y="335584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39512" y="335584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39512" y="335584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276088" y="28072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enough to keep a person centred within a couple of degrees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4736592" y="36941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93"/>
          </a:solidFill>
          <a:ln/>
        </p:spPr>
      </p:sp>
      <p:pic>
        <p:nvPicPr>
          <p:cNvPr id="30" name="Image 2" descr="C:\Users\Barho\AppData\Local\Temp\claude\C--Users-Barho-Desktop-General-Assembly-Projects-GitHub-ArgusAim\4dd502a5-664d-4fee-a519-13b7ad1f90ff\scratchpad\deck\icons\Tb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803904"/>
            <a:ext cx="237744" cy="23774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690872" y="3648456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690872" y="364845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239512" y="3648456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239512" y="364845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690872" y="4197096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90872" y="4197096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239512" y="4197096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5239512" y="4197096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276088" y="364845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the same way on a laptop and on an inexpensive single-board computer, with no GPU</a:t>
            </a:r>
            <a:endParaRPr lang="en-US" sz="1250" dirty="0"/>
          </a:p>
        </p:txBody>
      </p:sp>
      <p:sp>
        <p:nvSpPr>
          <p:cNvPr id="40" name="Text 35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- IN PLAIN TERMS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actually doing the “seeing”?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video frame - up to 30 times a second - a vision model scans the picture and answers one question: is there a person here, and exactly where? It's the same category of technology behind a phone camera auto-focusing on a face, tuned to run without a graphics card.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there, ArgusAim does the part most AI demos skip: it turns a box of pixels into a real physical direction - an angle in degrees, the same way your own eyes judge where to look - and hands that number straight to a motor.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23560" y="1691640"/>
            <a:ext cx="3063240" cy="1325880"/>
          </a:xfrm>
          <a:prstGeom prst="roundRect">
            <a:avLst>
              <a:gd name="adj" fmla="val 6897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23560" y="1801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30x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5877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MADE EVERY SECOND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3291840"/>
            <a:ext cx="3063240" cy="1325880"/>
          </a:xfrm>
          <a:prstGeom prst="roundRect">
            <a:avLst>
              <a:gd name="adj" fmla="val 6897"/>
            </a:avLst>
          </a:prstGeom>
          <a:solidFill>
            <a:srgbClr val="EEF3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23560" y="34015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56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187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REQUIRED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one frame through the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26464" y="2606040"/>
            <a:ext cx="6291072" cy="0"/>
          </a:xfrm>
          <a:prstGeom prst="line">
            <a:avLst/>
          </a:prstGeom>
          <a:noFill/>
          <a:ln w="25400">
            <a:solidFill>
              <a:srgbClr val="D7DEE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97280" y="2276856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E7C93"/>
          </a:solidFill>
          <a:ln/>
        </p:spPr>
      </p:sp>
      <p:pic>
        <p:nvPicPr>
          <p:cNvPr id="6" name="Image 0" descr="C:\Users\Barho\AppData\Local\Temp\claude\C--Users-Barho-Desktop-General-Assembly-Projects-GitHub-ArgusAim\4dd502a5-664d-4fee-a519-13b7ad1f90ff\scratchpad\deck\icons\Tb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288" y="2434864"/>
            <a:ext cx="342351" cy="3423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1560" y="2231136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223113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01368" y="2231136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01368" y="223113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" y="2980944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2980944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01368" y="2980944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01368" y="2980944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80160" y="19842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3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CAMERA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41071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Grabs the newest frame, 30x a second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70048" y="2276856"/>
            <a:ext cx="658368" cy="658368"/>
          </a:xfrm>
          <a:prstGeom prst="roundRect">
            <a:avLst>
              <a:gd name="adj" fmla="val 8333"/>
            </a:avLst>
          </a:prstGeom>
          <a:solidFill>
            <a:srgbClr val="B5650A"/>
          </a:solidFill>
          <a:ln/>
        </p:spPr>
      </p:sp>
      <p:pic>
        <p:nvPicPr>
          <p:cNvPr id="19" name="Image 1" descr="C:\Users\Barho\AppData\Local\Temp\claude\C--Users-Barho-Desktop-General-Assembly-Projects-GitHub-ArgusAim\4dd502a5-664d-4fee-a519-13b7ad1f90ff\scratchpad\deck\icons\Tb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056" y="2434864"/>
            <a:ext cx="342351" cy="342351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624328" y="223113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24328" y="22311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74136" y="223113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374136" y="22311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624328" y="2980944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624328" y="2980944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374136" y="2980944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374136" y="2980944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852928" y="19842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3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2258568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2258568" y="341071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person in the picture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42816" y="2276856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E7C93"/>
          </a:solidFill>
          <a:ln/>
        </p:spPr>
      </p:sp>
      <p:pic>
        <p:nvPicPr>
          <p:cNvPr id="32" name="Image 2" descr="C:\Users\Barho\AppData\Local\Temp\claude\C--Users-Barho-Desktop-General-Assembly-Projects-GitHub-ArgusAim\4dd502a5-664d-4fee-a519-13b7ad1f90ff\scratchpad\deck\icons\Tb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824" y="2434864"/>
            <a:ext cx="342351" cy="342351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4197096" y="2231136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197096" y="223113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946904" y="2231136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946904" y="223113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197096" y="2980944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197096" y="2980944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946904" y="2980944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946904" y="2980944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425696" y="19842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3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3831336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</a:t>
            </a:r>
            <a:endParaRPr lang="en-US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3831336" y="341071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same identity, frame to frame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5815584" y="2276856"/>
            <a:ext cx="658368" cy="658368"/>
          </a:xfrm>
          <a:prstGeom prst="roundRect">
            <a:avLst>
              <a:gd name="adj" fmla="val 8333"/>
            </a:avLst>
          </a:prstGeom>
          <a:solidFill>
            <a:srgbClr val="B5650A"/>
          </a:solidFill>
          <a:ln/>
        </p:spPr>
      </p:sp>
      <p:pic>
        <p:nvPicPr>
          <p:cNvPr id="45" name="Image 3" descr="C:\Users\Barho\AppData\Local\Temp\claude\C--Users-Barho-Desktop-General-Assembly-Projects-GitHub-ArgusAim\4dd502a5-664d-4fee-a519-13b7ad1f90ff\scratchpad\deck\icons\Tb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592" y="2434864"/>
            <a:ext cx="342351" cy="342351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5769864" y="2231136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769864" y="22311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519672" y="2231136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519672" y="2231136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5769864" y="2980944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769864" y="2980944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6519672" y="2980944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519672" y="2980944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5998464" y="19842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3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49"/>
          <p:cNvSpPr txBox="1"/>
          <p:nvPr/>
        </p:nvSpPr>
        <p:spPr>
          <a:xfrm>
            <a:off x="5404104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</a:t>
            </a:r>
            <a:endParaRPr lang="en-US" sz="1250" dirty="0"/>
          </a:p>
        </p:txBody>
      </p:sp>
      <p:sp>
        <p:nvSpPr>
          <p:cNvPr id="56" name="Text 50"/>
          <p:cNvSpPr txBox="1"/>
          <p:nvPr/>
        </p:nvSpPr>
        <p:spPr>
          <a:xfrm>
            <a:off x="5404104" y="341071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position into a real angle &amp; distance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7388352" y="2276856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E7C93"/>
          </a:solidFill>
          <a:ln/>
        </p:spPr>
      </p:sp>
      <p:pic>
        <p:nvPicPr>
          <p:cNvPr id="58" name="Image 4" descr="C:\Users\Barho\AppData\Local\Temp\claude\C--Users-Barho-Desktop-General-Assembly-Projects-GitHub-ArgusAim\4dd502a5-664d-4fee-a519-13b7ad1f90ff\scratchpad\deck\icons\TbArrowsMo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6360" y="2434864"/>
            <a:ext cx="342351" cy="342351"/>
          </a:xfrm>
          <a:prstGeom prst="rect">
            <a:avLst/>
          </a:prstGeom>
        </p:spPr>
      </p:pic>
      <p:sp>
        <p:nvSpPr>
          <p:cNvPr id="59" name="Shape 52"/>
          <p:cNvSpPr/>
          <p:nvPr/>
        </p:nvSpPr>
        <p:spPr>
          <a:xfrm>
            <a:off x="7342632" y="2231136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7342632" y="223113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8092440" y="2231136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8092440" y="2231136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7342632" y="2980944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7342632" y="2980944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8092440" y="2980944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8092440" y="2980944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7571232" y="19842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3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68" name="Text 61"/>
          <p:cNvSpPr txBox="1"/>
          <p:nvPr/>
        </p:nvSpPr>
        <p:spPr>
          <a:xfrm>
            <a:off x="6976872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</a:t>
            </a:r>
            <a:endParaRPr lang="en-US" sz="1250" dirty="0"/>
          </a:p>
        </p:txBody>
      </p:sp>
      <p:sp>
        <p:nvSpPr>
          <p:cNvPr id="69" name="Text 62"/>
          <p:cNvSpPr txBox="1"/>
          <p:nvPr/>
        </p:nvSpPr>
        <p:spPr>
          <a:xfrm>
            <a:off x="6976872" y="341071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motors turn the camera to re-centre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behave - not just to work once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60934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E7C93"/>
          </a:solidFill>
          <a:ln/>
        </p:spPr>
      </p:sp>
      <p:pic>
        <p:nvPicPr>
          <p:cNvPr id="5" name="Image 0" descr="C:\Users\Barho\AppData\Local\Temp\claude\C--Users-Barho-Desktop-General-Assembly-Projects-GitHub-ArgusAim\4dd502a5-664d-4fee-a519-13b7ad1f90ff\scratchpad\deck\icons\Tb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07" y="1745407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" y="1563624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" y="156362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8992" y="1563624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78992" y="156362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" y="2221992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" y="222199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221992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8992" y="222199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70432" y="160020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the device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video ever leaves the machine, and no internet connection is needed to track.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" y="245059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E7C93"/>
          </a:solidFill>
          <a:ln/>
        </p:spPr>
      </p:sp>
      <p:pic>
        <p:nvPicPr>
          <p:cNvPr id="16" name="Image 1" descr="C:\Users\Barho\AppData\Local\Temp\claude\C--Users-Barho-Desktop-General-Assembly-Projects-GitHub-ArgusAim\4dd502a5-664d-4fee-a519-13b7ad1f90ff\scratchpad\deck\icons\TbShiel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07" y="2586655"/>
            <a:ext cx="294803" cy="29480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0624" y="2404872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0624" y="2404872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78992" y="2404872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78992" y="2404872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0624" y="306324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0624" y="306324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78992" y="306324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78992" y="3063240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70432" y="2441448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mechanical limits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mount is software-limited to its safe range of motion - it physically cannot be pushed past what the hardware allows.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66344" y="3291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E7C93"/>
          </a:solidFill>
          <a:ln/>
        </p:spPr>
      </p:sp>
      <p:pic>
        <p:nvPicPr>
          <p:cNvPr id="27" name="Image 2" descr="C:\Users\Barho\AppData\Local\Temp\claude\C--Users-Barho-Desktop-General-Assembly-Projects-GitHub-ArgusAim\4dd502a5-664d-4fee-a519-13b7ad1f90ff\scratchpad\deck\icons\TbTrending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3427903"/>
            <a:ext cx="294803" cy="294803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20624" y="3246120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20624" y="324612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78992" y="3246120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78992" y="3246120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20624" y="390448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20624" y="390448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78992" y="390448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078992" y="3904488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170432" y="3282696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Tuned, then measured - not guessed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hardware, ArgusAim holds a person centred to a median of about 2° side to side and under 1° up and down.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466344" y="41330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E7C93"/>
          </a:solidFill>
          <a:ln/>
        </p:spPr>
      </p:sp>
      <p:pic>
        <p:nvPicPr>
          <p:cNvPr id="38" name="Image 3" descr="C:\Users\Barho\AppData\Local\Temp\claude\C--Users-Barho-Desktop-General-Assembly-Projects-GitHub-ArgusAim\4dd502a5-664d-4fee-a519-13b7ad1f90ff\scratchpad\deck\icons\Tb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07" y="4269151"/>
            <a:ext cx="294803" cy="294803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420624" y="4087368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20624" y="408736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078992" y="4087368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078992" y="4087368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20624" y="4745736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20624" y="4745736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078992" y="4745736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078992" y="4745736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1170432" y="4123944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two different machines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runs at nearly the same speed on a full laptop and on a low-cost embedded computer.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it live.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82296" cy="82296"/>
          </a:xfrm>
          <a:prstGeom prst="roundRect">
            <a:avLst/>
          </a:prstGeom>
          <a:solidFill>
            <a:srgbClr val="FFAB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824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straight in a browser - nothing to install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" cy="82296"/>
          </a:xfrm>
          <a:prstGeom prst="roundRect">
            <a:avLst/>
          </a:prstGeom>
          <a:solidFill>
            <a:srgbClr val="FFAB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2494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network can watch it lock on and follow, live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82296" cy="82296"/>
          </a:xfrm>
          <a:prstGeom prst="roundRect">
            <a:avLst/>
          </a:prstGeom>
          <a:solidFill>
            <a:srgbClr val="FFAB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163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see is the real, running system</a:t>
            </a:r>
            <a:endParaRPr lang="en-US" sz="1300" dirty="0"/>
          </a:p>
        </p:txBody>
      </p:sp>
      <p:pic>
        <p:nvPicPr>
          <p:cNvPr id="10" name="Image 0" descr="C:\Users\Barho\AppData\Local\Temp\claude\C--Users-Barho-Desktop-General-Assembly-Projects-GitHub-ArgusAim\4dd502a5-664d-4fee-a519-13b7ad1f90ff\scratchpad\deck\hud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333024"/>
            <a:ext cx="4892040" cy="275177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21608" y="1259872"/>
            <a:ext cx="201168" cy="0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21608" y="1259872"/>
            <a:ext cx="0" cy="201168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59952" y="1259872"/>
            <a:ext cx="-201168" cy="0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9952" y="1259872"/>
            <a:ext cx="0" cy="201168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21608" y="4157948"/>
            <a:ext cx="201168" cy="0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21608" y="4157948"/>
            <a:ext cx="0" cy="-201168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59952" y="4157948"/>
            <a:ext cx="-201168" cy="0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59952" y="4157948"/>
            <a:ext cx="0" cy="-201168"/>
          </a:xfrm>
          <a:prstGeom prst="line">
            <a:avLst/>
          </a:prstGeom>
          <a:noFill/>
          <a:ln w="28575">
            <a:solidFill>
              <a:srgbClr val="FFAB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94760" y="42128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on-screen output from the running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actually got working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37490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83480" y="1554480"/>
            <a:ext cx="3703320" cy="1188720"/>
          </a:xfrm>
          <a:prstGeom prst="roundRect">
            <a:avLst>
              <a:gd name="adj" fmla="val 7692"/>
            </a:avLst>
          </a:prstGeom>
          <a:solidFill>
            <a:srgbClr val="EEF3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212080" y="1664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6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2° / &lt; 1°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22677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left-right / up-down tracking error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983480" y="2971800"/>
            <a:ext cx="3703320" cy="1188720"/>
          </a:xfrm>
          <a:prstGeom prst="roundRect">
            <a:avLst>
              <a:gd name="adj" fmla="val 7692"/>
            </a:avLst>
          </a:prstGeom>
          <a:solidFill>
            <a:srgbClr val="EEF3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12080" y="3081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36850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platforms proven - laptop and embedded board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4407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offline, with zero ongoing cloud cost per camera.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we'd point this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733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one real use case first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demo-booth or security-post camera, rather than building every feature at once.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AB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3347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recording &amp; alerting layer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scaling to multiple units, wrap the tracking with basic logging so it's useful on its own.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935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0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engine as reusable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detect-track-aim pipeline can point a camera, a light, or a different sensor entirely.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01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it stands today - and what's next, insha'Allah</a:t>
            </a:r>
            <a:endParaRPr lang="en-US" sz="2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" y="1883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5650A"/>
          </a:solidFill>
          <a:ln/>
        </p:spPr>
      </p:sp>
      <p:pic>
        <p:nvPicPr>
          <p:cNvPr id="6" name="Image 0" descr="C:\Users\Barho\AppData\Local\Temp\claude\C--Users-Barho-Desktop-General-Assembly-Projects-GitHub-ArgusAim\4dd502a5-664d-4fee-a519-13b7ad1f90ff\scratchpad\deck\icons\Tb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16" y="1975836"/>
            <a:ext cx="199705" cy="199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" y="1837944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" y="1837944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1837944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6112" y="1837944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" y="2313432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" y="2313432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2313432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" y="2313432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1874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estimated from a person's apparent height - a guide, not a measured depth.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" y="27523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5650A"/>
          </a:solidFill>
          <a:ln/>
        </p:spPr>
      </p:sp>
      <p:pic>
        <p:nvPicPr>
          <p:cNvPr id="17" name="Image 1" descr="C:\Users\Barho\AppData\Local\Temp\claude\C--Users-Barho-Desktop-General-Assembly-Projects-GitHub-ArgusAim\4dd502a5-664d-4fee-a519-13b7ad1f90ff\scratchpad\deck\icons\TbAlert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6" y="2844516"/>
            <a:ext cx="199705" cy="19970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20624" y="2706624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0624" y="2706624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96112" y="2706624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96112" y="2706624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0624" y="3182112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0624" y="3182112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96112" y="3182112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96112" y="3182112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14400" y="27432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camera, one field of view - it can't see around a corner from a single fixed post.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66344" y="3621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5650A"/>
          </a:solidFill>
          <a:ln/>
        </p:spPr>
      </p:sp>
      <p:pic>
        <p:nvPicPr>
          <p:cNvPr id="28" name="Image 2" descr="C:\Users\Barho\AppData\Local\Temp\claude\C--Users-Barho-Desktop-General-Assembly-Projects-GitHub-ArgusAim\4dd502a5-664d-4fee-a519-13b7ad1f90ff\scratchpad\deck\icons\TbAlert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16" y="3713196"/>
            <a:ext cx="199705" cy="19970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20624" y="3575304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20624" y="3575304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96112" y="3575304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96112" y="3575304"/>
            <a:ext cx="0" cy="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20624" y="4050792"/>
            <a:ext cx="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20624" y="4050792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6112" y="4050792"/>
            <a:ext cx="-82296" cy="0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96112" y="4050792"/>
            <a:ext cx="0" cy="-82296"/>
          </a:xfrm>
          <a:prstGeom prst="line">
            <a:avLst/>
          </a:prstGeom>
          <a:noFill/>
          <a:ln w="19050">
            <a:solidFill>
              <a:srgbClr val="B5650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14400" y="36118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one person at a time; choosing between several is a manual step today.</a:t>
            </a:r>
            <a:endParaRPr lang="en-US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4892040" y="1508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INSHA'ALLAH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4901184" y="1883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E7C93"/>
          </a:solidFill>
          <a:ln/>
        </p:spPr>
      </p:sp>
      <p:pic>
        <p:nvPicPr>
          <p:cNvPr id="40" name="Image 3" descr="C:\Users\Barho\AppData\Local\Temp\claude\C--Users-Barho-Desktop-General-Assembly-Projects-GitHub-ArgusAim\4dd502a5-664d-4fee-a519-13b7ad1f90ff\scratchpad\deck\icons\Tb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356" y="1975836"/>
            <a:ext cx="199705" cy="199705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4855464" y="1837944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855464" y="183794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330952" y="1837944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330952" y="183794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855464" y="2313432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855464" y="231343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330952" y="2313432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5330952" y="231343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5349240" y="1874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depth sensor for true distance, instead of an estimate.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4901184" y="27523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E7C93"/>
          </a:solidFill>
          <a:ln/>
        </p:spPr>
      </p:sp>
      <p:pic>
        <p:nvPicPr>
          <p:cNvPr id="51" name="Image 4" descr="C:\Users\Barho\AppData\Local\Temp\claude\C--Users-Barho-Desktop-General-Assembly-Projects-GitHub-ArgusAim\4dd502a5-664d-4fee-a519-13b7ad1f90ff\scratchpad\deck\icons\Tb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356" y="2844516"/>
            <a:ext cx="199705" cy="199705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4855464" y="2706624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4855464" y="270662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330952" y="2706624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5330952" y="270662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855464" y="3182112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4855464" y="318211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5330952" y="3182112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5330952" y="318211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5349240" y="27432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automatic choice of who to follow when several people are in frame.</a:t>
            </a:r>
            <a:endParaRPr lang="en-US" sz="1150" dirty="0"/>
          </a:p>
        </p:txBody>
      </p:sp>
      <p:sp>
        <p:nvSpPr>
          <p:cNvPr id="61" name="Shape 54"/>
          <p:cNvSpPr/>
          <p:nvPr/>
        </p:nvSpPr>
        <p:spPr>
          <a:xfrm>
            <a:off x="4901184" y="3621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E7C93"/>
          </a:solidFill>
          <a:ln/>
        </p:spPr>
      </p:sp>
      <p:pic>
        <p:nvPicPr>
          <p:cNvPr id="62" name="Image 5" descr="C:\Users\Barho\AppData\Local\Temp\claude\C--Users-Barho-Desktop-General-Assembly-Projects-GitHub-ArgusAim\4dd502a5-664d-4fee-a519-13b7ad1f90ff\scratchpad\deck\icons\Tb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356" y="3713196"/>
            <a:ext cx="199705" cy="199705"/>
          </a:xfrm>
          <a:prstGeom prst="rect">
            <a:avLst/>
          </a:prstGeom>
        </p:spPr>
      </p:pic>
      <p:sp>
        <p:nvSpPr>
          <p:cNvPr id="63" name="Shape 55"/>
          <p:cNvSpPr/>
          <p:nvPr/>
        </p:nvSpPr>
        <p:spPr>
          <a:xfrm>
            <a:off x="4855464" y="3575304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4855464" y="357530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5330952" y="3575304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5330952" y="3575304"/>
            <a:ext cx="0" cy="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4855464" y="4050792"/>
            <a:ext cx="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4855464" y="405079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5330952" y="4050792"/>
            <a:ext cx="-82296" cy="0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5330952" y="4050792"/>
            <a:ext cx="0" cy="-82296"/>
          </a:xfrm>
          <a:prstGeom prst="line">
            <a:avLst/>
          </a:prstGeom>
          <a:noFill/>
          <a:ln w="19050">
            <a:solidFill>
              <a:srgbClr val="0E7C93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5349240" y="36118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weatherproof, higher-torque build for outdoor and longer-duty use.</a:t>
            </a:r>
            <a:endParaRPr lang="en-US" sz="1150" dirty="0"/>
          </a:p>
        </p:txBody>
      </p:sp>
      <p:sp>
        <p:nvSpPr>
          <p:cNvPr id="72" name="Text 64"/>
          <p:cNvSpPr txBox="1"/>
          <p:nvPr/>
        </p:nvSpPr>
        <p:spPr>
          <a:xfrm>
            <a:off x="8503920" y="4814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0" cy="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457200"/>
            <a:ext cx="-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57200"/>
            <a:ext cx="0" cy="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86300"/>
            <a:ext cx="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686300"/>
            <a:ext cx="0" cy="-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686300"/>
            <a:ext cx="-320040" cy="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4686300"/>
            <a:ext cx="0" cy="-320040"/>
          </a:xfrm>
          <a:prstGeom prst="line">
            <a:avLst/>
          </a:prstGeom>
          <a:noFill/>
          <a:ln w="25400">
            <a:solidFill>
              <a:srgbClr val="85D5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3380" y="13030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AB40"/>
          </a:solidFill>
          <a:ln/>
        </p:spPr>
      </p:sp>
      <p:pic>
        <p:nvPicPr>
          <p:cNvPr id="11" name="Image 0" descr="C:\Users\Barho\AppData\Local\Temp\claude\C--Users-Barho-Desktop-General-Assembly-Projects-GitHub-ArgusAim\4dd502a5-664d-4fee-a519-13b7ad1f90ff\scratchpad\deck\icons\TbCross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918" y="1489558"/>
            <a:ext cx="404165" cy="40416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137660" y="1257300"/>
            <a:ext cx="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37660" y="1257300"/>
            <a:ext cx="0" cy="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06340" y="1257300"/>
            <a:ext cx="-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06340" y="1257300"/>
            <a:ext cx="0" cy="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7660" y="2125980"/>
            <a:ext cx="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37660" y="2125980"/>
            <a:ext cx="0" cy="-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06340" y="2125980"/>
            <a:ext cx="-82296" cy="0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06340" y="2125980"/>
            <a:ext cx="0" cy="-82296"/>
          </a:xfrm>
          <a:prstGeom prst="line">
            <a:avLst/>
          </a:prstGeom>
          <a:noFill/>
          <a:ln w="19050">
            <a:solidFill>
              <a:srgbClr val="FFAB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0" y="23317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0" y="30540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5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and then - let's watch it track.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0" y="45034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Ebrahim Maki  |  ArgusAim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General Assembly - Data Science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ArgusAim</dc:title>
  <dc:subject>PptxGenJS Presentation</dc:subject>
  <dc:creator>Ebrahim Maki</dc:creator>
  <cp:lastModifiedBy>Ebrahim Maki</cp:lastModifiedBy>
  <cp:revision>1</cp:revision>
  <dcterms:created xsi:type="dcterms:W3CDTF">2026-08-31T21:47:17Z</dcterms:created>
  <dcterms:modified xsi:type="dcterms:W3CDTF">2026-08-31T21:47:17Z</dcterms:modified>
</cp:coreProperties>
</file>